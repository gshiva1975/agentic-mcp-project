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Gill Sans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MPcBAjxE1cKl9pJMIhsgkoklh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GillSans-bold.fntdata"/><Relationship Id="rId12" Type="http://schemas.openxmlformats.org/officeDocument/2006/relationships/font" Target="fonts/GillSa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9"/>
          <p:cNvSpPr txBox="1"/>
          <p:nvPr>
            <p:ph type="ctrTitle"/>
          </p:nvPr>
        </p:nvSpPr>
        <p:spPr>
          <a:xfrm>
            <a:off x="2417779" y="802298"/>
            <a:ext cx="8637073" cy="254143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Gill Sans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" type="subTitle"/>
          </p:nvPr>
        </p:nvSpPr>
        <p:spPr>
          <a:xfrm>
            <a:off x="2417780" y="3531204"/>
            <a:ext cx="8637072" cy="9776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sz="180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9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1" type="ftr"/>
          </p:nvPr>
        </p:nvSpPr>
        <p:spPr>
          <a:xfrm>
            <a:off x="2416500" y="329307"/>
            <a:ext cx="49739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2" type="sldNum"/>
          </p:nvPr>
        </p:nvSpPr>
        <p:spPr>
          <a:xfrm>
            <a:off x="1437664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0" name="Google Shape;20;p9"/>
          <p:cNvCxnSpPr/>
          <p:nvPr/>
        </p:nvCxnSpPr>
        <p:spPr>
          <a:xfrm>
            <a:off x="2417780" y="3528542"/>
            <a:ext cx="863707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" name="Google Shape;27;p10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/>
          <p:nvPr>
            <p:ph type="title"/>
          </p:nvPr>
        </p:nvSpPr>
        <p:spPr>
          <a:xfrm>
            <a:off x="1454239" y="1756130"/>
            <a:ext cx="8643154" cy="1887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" type="body"/>
          </p:nvPr>
        </p:nvSpPr>
        <p:spPr>
          <a:xfrm>
            <a:off x="1454239" y="3806195"/>
            <a:ext cx="8630446" cy="10129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1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4" name="Google Shape;34;p11"/>
          <p:cNvCxnSpPr/>
          <p:nvPr/>
        </p:nvCxnSpPr>
        <p:spPr>
          <a:xfrm>
            <a:off x="1454239" y="3804985"/>
            <a:ext cx="8630446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/>
          <p:nvPr>
            <p:ph type="title"/>
          </p:nvPr>
        </p:nvSpPr>
        <p:spPr>
          <a:xfrm>
            <a:off x="1449217" y="804889"/>
            <a:ext cx="9605635" cy="1059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" type="body"/>
          </p:nvPr>
        </p:nvSpPr>
        <p:spPr>
          <a:xfrm>
            <a:off x="1447331" y="2010878"/>
            <a:ext cx="4645152" cy="3448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2" type="body"/>
          </p:nvPr>
        </p:nvSpPr>
        <p:spPr>
          <a:xfrm>
            <a:off x="6413771" y="2017343"/>
            <a:ext cx="4645152" cy="344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2" name="Google Shape;42;p12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 txBox="1"/>
          <p:nvPr>
            <p:ph type="title"/>
          </p:nvPr>
        </p:nvSpPr>
        <p:spPr>
          <a:xfrm>
            <a:off x="1447191" y="804163"/>
            <a:ext cx="9607661" cy="1056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1" type="body"/>
          </p:nvPr>
        </p:nvSpPr>
        <p:spPr>
          <a:xfrm>
            <a:off x="1447191" y="2019549"/>
            <a:ext cx="4645152" cy="8019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3"/>
          <p:cNvSpPr txBox="1"/>
          <p:nvPr>
            <p:ph idx="2" type="body"/>
          </p:nvPr>
        </p:nvSpPr>
        <p:spPr>
          <a:xfrm>
            <a:off x="1447191" y="2824269"/>
            <a:ext cx="4645152" cy="2644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3" type="body"/>
          </p:nvPr>
        </p:nvSpPr>
        <p:spPr>
          <a:xfrm>
            <a:off x="6412362" y="2023003"/>
            <a:ext cx="4645152" cy="8022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3"/>
          <p:cNvSpPr txBox="1"/>
          <p:nvPr>
            <p:ph idx="4" type="body"/>
          </p:nvPr>
        </p:nvSpPr>
        <p:spPr>
          <a:xfrm>
            <a:off x="6412362" y="2821491"/>
            <a:ext cx="4645152" cy="2637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2" name="Google Shape;52;p13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8" name="Google Shape;58;p14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1444671" y="798973"/>
            <a:ext cx="3273099" cy="22471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5043714" y="798974"/>
            <a:ext cx="6012470" cy="4658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2" type="body"/>
          </p:nvPr>
        </p:nvSpPr>
        <p:spPr>
          <a:xfrm>
            <a:off x="1444671" y="3205491"/>
            <a:ext cx="3275013" cy="2248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6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0" name="Google Shape;70;p16"/>
          <p:cNvCxnSpPr/>
          <p:nvPr/>
        </p:nvCxnSpPr>
        <p:spPr>
          <a:xfrm>
            <a:off x="1448280" y="3205491"/>
            <a:ext cx="326949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73" name="Google Shape;73;p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00" scaled="0"/>
            </a:gradFill>
            <a:ln>
              <a:noFill/>
            </a:ln>
            <a:effectLst>
              <a:outerShdw blurRad="127000" sx="98000" rotWithShape="0" algn="tl" dir="4740000" dist="228600" sy="98000">
                <a:srgbClr val="000000">
                  <a:alpha val="3372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7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cap="flat" cmpd="sng" w="50800">
              <a:solidFill>
                <a:srgbClr val="19191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17"/>
          <p:cNvSpPr txBox="1"/>
          <p:nvPr>
            <p:ph type="title"/>
          </p:nvPr>
        </p:nvSpPr>
        <p:spPr>
          <a:xfrm>
            <a:off x="1451206" y="1129513"/>
            <a:ext cx="5532328" cy="1830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/>
          <p:nvPr>
            <p:ph idx="2" type="pic"/>
          </p:nvPr>
        </p:nvSpPr>
        <p:spPr>
          <a:xfrm>
            <a:off x="8124389" y="1122542"/>
            <a:ext cx="2791171" cy="386632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1450329" y="3145992"/>
            <a:ext cx="5524404" cy="2003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1447382" y="5469856"/>
            <a:ext cx="5527351" cy="320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1447382" y="318640"/>
            <a:ext cx="5541004" cy="320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1" name="Google Shape;81;p17"/>
          <p:cNvCxnSpPr/>
          <p:nvPr/>
        </p:nvCxnSpPr>
        <p:spPr>
          <a:xfrm>
            <a:off x="1447382" y="3143605"/>
            <a:ext cx="5527351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 rot="5400000">
            <a:off x="4527910" y="-1060599"/>
            <a:ext cx="3450613" cy="96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8" name="Google Shape;88;p18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 rot="5400000">
            <a:off x="7917038" y="2321047"/>
            <a:ext cx="4659889" cy="1615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 rot="5400000">
            <a:off x="3029143" y="-785498"/>
            <a:ext cx="4659889" cy="7828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5" name="Google Shape;95;p19"/>
          <p:cNvCxnSpPr/>
          <p:nvPr/>
        </p:nvCxnSpPr>
        <p:spPr>
          <a:xfrm>
            <a:off x="9439111" y="798973"/>
            <a:ext cx="0" cy="4659889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7" name="Google Shape;7;p8"/>
          <p:cNvPicPr preferRelativeResize="0"/>
          <p:nvPr/>
        </p:nvPicPr>
        <p:blipFill rotWithShape="1">
          <a:blip r:embed="rId1">
            <a:alphaModFix/>
          </a:blip>
          <a:srcRect b="-1538" l="0" r="0" t="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8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8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048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048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048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28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28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28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28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28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28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28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28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2800" u="non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8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nk and blue acrylic paint" id="100" name="Google Shape;100;p1"/>
          <p:cNvPicPr preferRelativeResize="0"/>
          <p:nvPr/>
        </p:nvPicPr>
        <p:blipFill rotWithShape="1">
          <a:blip r:embed="rId3">
            <a:alphaModFix amt="30000"/>
          </a:blip>
          <a:srcRect b="14422" l="0" r="0" t="4349"/>
          <a:stretch/>
        </p:blipFill>
        <p:spPr>
          <a:xfrm>
            <a:off x="25" y="449075"/>
            <a:ext cx="11977498" cy="673737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 txBox="1"/>
          <p:nvPr>
            <p:ph type="ctrTitle"/>
          </p:nvPr>
        </p:nvSpPr>
        <p:spPr>
          <a:xfrm>
            <a:off x="838202" y="2857501"/>
            <a:ext cx="8412300" cy="322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None/>
            </a:pPr>
            <a:r>
              <a:rPr lang="en-US"/>
              <a:t>AGENTIC AI AND MCP</a:t>
            </a:r>
            <a:r>
              <a:rPr lang="en-US"/>
              <a:t> </a:t>
            </a:r>
            <a:r>
              <a:rPr lang="en-US"/>
              <a:t>SERVER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6866"/>
              <a:buFont typeface="Gill Sans"/>
              <a:buNone/>
            </a:pPr>
            <a:r>
              <a:rPr lang="en-US" sz="4822"/>
              <a:t>DEMO’S(Investment Research Agent and Video Summarization)</a:t>
            </a:r>
            <a:br>
              <a:rPr lang="en-US" sz="4822"/>
            </a:br>
            <a:br>
              <a:rPr lang="en-US" sz="4822"/>
            </a:br>
            <a:r>
              <a:rPr lang="en-US" sz="4822"/>
              <a:t>GANGADHAR S SHIVA</a:t>
            </a:r>
            <a:endParaRPr sz="4822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/>
          <p:nvPr>
            <p:ph type="title"/>
          </p:nvPr>
        </p:nvSpPr>
        <p:spPr>
          <a:xfrm>
            <a:off x="1406023" y="129841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AGENTIC  AI ARCHITECTURE ( HIGH LEVEL )</a:t>
            </a:r>
            <a:endParaRPr/>
          </a:p>
        </p:txBody>
      </p:sp>
      <p:sp>
        <p:nvSpPr>
          <p:cNvPr id="107" name="Google Shape;107;p2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12/16/25</a:t>
            </a:r>
            <a:endParaRPr/>
          </a:p>
        </p:txBody>
      </p:sp>
      <p:sp>
        <p:nvSpPr>
          <p:cNvPr id="108" name="Google Shape;108;p2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HIGH</a:t>
            </a:r>
            <a:endParaRPr/>
          </a:p>
        </p:txBody>
      </p:sp>
      <p:sp>
        <p:nvSpPr>
          <p:cNvPr id="109" name="Google Shape;109;p2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1575" y="1007575"/>
            <a:ext cx="9603275" cy="4715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>
            <p:ph type="title"/>
          </p:nvPr>
        </p:nvSpPr>
        <p:spPr>
          <a:xfrm>
            <a:off x="1406023" y="129841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AGENTIC AI ARCHITECTURE ( DETAILED )</a:t>
            </a:r>
            <a:endParaRPr/>
          </a:p>
        </p:txBody>
      </p:sp>
      <p:sp>
        <p:nvSpPr>
          <p:cNvPr id="116" name="Google Shape;116;p3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12/16/25</a:t>
            </a:r>
            <a:endParaRPr/>
          </a:p>
        </p:txBody>
      </p:sp>
      <p:sp>
        <p:nvSpPr>
          <p:cNvPr id="117" name="Google Shape;117;p3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</a:t>
            </a:r>
            <a:endParaRPr/>
          </a:p>
        </p:txBody>
      </p:sp>
      <p:sp>
        <p:nvSpPr>
          <p:cNvPr id="118" name="Google Shape;118;p3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" name="Google Shape;119;p3"/>
          <p:cNvSpPr txBox="1"/>
          <p:nvPr>
            <p:ph idx="1" type="body"/>
          </p:nvPr>
        </p:nvSpPr>
        <p:spPr>
          <a:xfrm>
            <a:off x="9310255" y="2015732"/>
            <a:ext cx="2757054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Works on a Goal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Uses LLM, Memory (Volatile/Persistent)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Plan, Reason, Act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Tools.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Talks to other Agents</a:t>
            </a:r>
            <a:br>
              <a:rPr lang="en-US"/>
            </a:br>
            <a:endParaRPr/>
          </a:p>
        </p:txBody>
      </p:sp>
      <p:pic>
        <p:nvPicPr>
          <p:cNvPr id="120" name="Google Shape;1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1800" y="939550"/>
            <a:ext cx="8032676" cy="507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/>
          <p:nvPr>
            <p:ph type="title"/>
          </p:nvPr>
        </p:nvSpPr>
        <p:spPr>
          <a:xfrm>
            <a:off x="1451578" y="14095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AGENTIC AI – MCP ARCHITECTURE</a:t>
            </a:r>
            <a:endParaRPr/>
          </a:p>
        </p:txBody>
      </p:sp>
      <p:sp>
        <p:nvSpPr>
          <p:cNvPr id="126" name="Google Shape;126;p4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1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12/16/25</a:t>
            </a:r>
            <a:endParaRPr/>
          </a:p>
        </p:txBody>
      </p:sp>
      <p:sp>
        <p:nvSpPr>
          <p:cNvPr id="128" name="Google Shape;128;p4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0" name="Google Shape;1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500" y="1302551"/>
            <a:ext cx="10931425" cy="445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/>
          <p:nvPr>
            <p:ph type="title"/>
          </p:nvPr>
        </p:nvSpPr>
        <p:spPr>
          <a:xfrm>
            <a:off x="1451578" y="14095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FEATURES OF TOOL</a:t>
            </a:r>
            <a:endParaRPr/>
          </a:p>
        </p:txBody>
      </p:sp>
      <p:sp>
        <p:nvSpPr>
          <p:cNvPr id="136" name="Google Shape;136;p5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Uses Neural Networks (LLM/Transformer) – ( Text Generation/Sentimental Analysis)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Implement Agentic AI with LangGraph Frameworks. Complex use case can  be done with Lang Graph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MCP Server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Incorporate this Agent in MCP Server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Use Claude UI/MCP Client for processing the prompts and response.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Recommendation Logic</a:t>
            </a:r>
            <a:endParaRPr/>
          </a:p>
        </p:txBody>
      </p:sp>
      <p:sp>
        <p:nvSpPr>
          <p:cNvPr id="137" name="Google Shape;137;p5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12/16/25</a:t>
            </a:r>
            <a:endParaRPr/>
          </a:p>
        </p:txBody>
      </p:sp>
      <p:sp>
        <p:nvSpPr>
          <p:cNvPr id="138" name="Google Shape;138;p5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44" name="Google Shape;144;p6"/>
          <p:cNvPicPr preferRelativeResize="0"/>
          <p:nvPr/>
        </p:nvPicPr>
        <p:blipFill rotWithShape="1">
          <a:blip r:embed="rId3">
            <a:alphaModFix/>
          </a:blip>
          <a:srcRect b="-1538" l="0" r="0" t="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5" name="Google Shape;145;p6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BE9E6"/>
              </a:gs>
              <a:gs pos="100000">
                <a:srgbClr val="C9C5C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lt1"/>
          </a:solidFill>
          <a:ln cap="flat" cmpd="sng" w="22225">
            <a:solidFill>
              <a:srgbClr val="FDAB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8" name="Google Shape;148;p6"/>
          <p:cNvSpPr txBox="1"/>
          <p:nvPr>
            <p:ph idx="12" type="sldNum"/>
          </p:nvPr>
        </p:nvSpPr>
        <p:spPr>
          <a:xfrm>
            <a:off x="480060" y="6327595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>
                <a:solidFill>
                  <a:srgbClr val="595959"/>
                </a:solidFill>
              </a:rPr>
              <a:t>‹#›</a:t>
            </a:fld>
            <a:endParaRPr sz="2000">
              <a:solidFill>
                <a:srgbClr val="595959"/>
              </a:solidFill>
            </a:endParaRPr>
          </a:p>
        </p:txBody>
      </p:sp>
      <p:sp>
        <p:nvSpPr>
          <p:cNvPr id="149" name="Google Shape;149;p6"/>
          <p:cNvSpPr txBox="1"/>
          <p:nvPr>
            <p:ph idx="10" type="dt"/>
          </p:nvPr>
        </p:nvSpPr>
        <p:spPr>
          <a:xfrm>
            <a:off x="7554138" y="6424784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95959"/>
                </a:solidFill>
              </a:rPr>
              <a:t>12/16/25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50" name="Google Shape;150;p6"/>
          <p:cNvSpPr txBox="1"/>
          <p:nvPr>
            <p:ph type="title"/>
          </p:nvPr>
        </p:nvSpPr>
        <p:spPr>
          <a:xfrm>
            <a:off x="1451578" y="14095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INVESTMENT AGENTIC AI WORKFLOW</a:t>
            </a:r>
            <a:endParaRPr/>
          </a:p>
        </p:txBody>
      </p:sp>
      <p:pic>
        <p:nvPicPr>
          <p:cNvPr id="151" name="Google Shape;151;p6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4025" y="1020525"/>
            <a:ext cx="8955000" cy="477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57" name="Google Shape;157;p7"/>
          <p:cNvPicPr preferRelativeResize="0"/>
          <p:nvPr/>
        </p:nvPicPr>
        <p:blipFill rotWithShape="1">
          <a:blip r:embed="rId3">
            <a:alphaModFix/>
          </a:blip>
          <a:srcRect b="-1538" l="0" r="0" t="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" name="Google Shape;158;p7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BE9E6"/>
              </a:gs>
              <a:gs pos="100000">
                <a:srgbClr val="C9C5C0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lt1"/>
          </a:solidFill>
          <a:ln cap="flat" cmpd="sng" w="22225">
            <a:solidFill>
              <a:srgbClr val="FDAB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61" name="Google Shape;161;p7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300" y="508575"/>
            <a:ext cx="10254000" cy="55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 txBox="1"/>
          <p:nvPr>
            <p:ph idx="12" type="sldNum"/>
          </p:nvPr>
        </p:nvSpPr>
        <p:spPr>
          <a:xfrm>
            <a:off x="480060" y="6327595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>
                <a:solidFill>
                  <a:srgbClr val="595959"/>
                </a:solidFill>
              </a:rPr>
              <a:t>‹#›</a:t>
            </a:fld>
            <a:endParaRPr sz="2000">
              <a:solidFill>
                <a:srgbClr val="595959"/>
              </a:solidFill>
            </a:endParaRPr>
          </a:p>
        </p:txBody>
      </p:sp>
      <p:sp>
        <p:nvSpPr>
          <p:cNvPr id="163" name="Google Shape;163;p7"/>
          <p:cNvSpPr txBox="1"/>
          <p:nvPr>
            <p:ph idx="10" type="dt"/>
          </p:nvPr>
        </p:nvSpPr>
        <p:spPr>
          <a:xfrm>
            <a:off x="7554138" y="6424784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95959"/>
                </a:solidFill>
              </a:rPr>
              <a:t>12/16/25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64" name="Google Shape;164;p7"/>
          <p:cNvSpPr txBox="1"/>
          <p:nvPr>
            <p:ph type="title"/>
          </p:nvPr>
        </p:nvSpPr>
        <p:spPr>
          <a:xfrm>
            <a:off x="1451578" y="14095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VIDEO ANALYSIS AGENTIC AI WORKFLOW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llery">
  <a:themeElements>
    <a:clrScheme name="Gallery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2025-10-14T01:13:15Z</dcterms:created>
  <dc:creator>Gangadhar Shiva</dc:creator>
</cp:coreProperties>
</file>